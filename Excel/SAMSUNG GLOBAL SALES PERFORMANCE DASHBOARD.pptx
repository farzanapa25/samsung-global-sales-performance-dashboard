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6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84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FBD313-B997-4770-9FA3-659D4FAFFF78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2529C-DD35-4896-A0DA-6992498E7D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2817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2529C-DD35-4896-A0DA-6992498E7DF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59338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2529C-DD35-4896-A0DA-6992498E7DF8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53954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AAA95-65A7-4F26-8FEE-BE741A585822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0E5B4-131D-46C4-B355-462E8F5E08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0602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AAA95-65A7-4F26-8FEE-BE741A585822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0E5B4-131D-46C4-B355-462E8F5E08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6418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AAA95-65A7-4F26-8FEE-BE741A585822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0E5B4-131D-46C4-B355-462E8F5E08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3220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AAA95-65A7-4F26-8FEE-BE741A585822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0E5B4-131D-46C4-B355-462E8F5E08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8348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AAA95-65A7-4F26-8FEE-BE741A585822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0E5B4-131D-46C4-B355-462E8F5E08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264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AAA95-65A7-4F26-8FEE-BE741A585822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0E5B4-131D-46C4-B355-462E8F5E08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9781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AAA95-65A7-4F26-8FEE-BE741A585822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0E5B4-131D-46C4-B355-462E8F5E08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2416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AAA95-65A7-4F26-8FEE-BE741A585822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0E5B4-131D-46C4-B355-462E8F5E08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3204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AAA95-65A7-4F26-8FEE-BE741A585822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0E5B4-131D-46C4-B355-462E8F5E08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8032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AAA95-65A7-4F26-8FEE-BE741A585822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0E5B4-131D-46C4-B355-462E8F5E08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8446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AAA95-65A7-4F26-8FEE-BE741A585822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0E5B4-131D-46C4-B355-462E8F5E08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92642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AAA95-65A7-4F26-8FEE-BE741A585822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0E5B4-131D-46C4-B355-462E8F5E08B7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923675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AAA95-65A7-4F26-8FEE-BE741A585822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0E5B4-131D-46C4-B355-462E8F5E08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39144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AAA95-65A7-4F26-8FEE-BE741A585822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0E5B4-131D-46C4-B355-462E8F5E08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66136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AAA95-65A7-4F26-8FEE-BE741A585822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0E5B4-131D-46C4-B355-462E8F5E08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54198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AAA95-65A7-4F26-8FEE-BE741A585822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0E5B4-131D-46C4-B355-462E8F5E08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66525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AAA95-65A7-4F26-8FEE-BE741A585822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0E5B4-131D-46C4-B355-462E8F5E08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2275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6EAAA95-65A7-4F26-8FEE-BE741A585822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2B0E5B4-131D-46C4-B355-462E8F5E08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75266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C8F3E-1C2A-4C75-F4B5-5894134590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82800" y="304800"/>
            <a:ext cx="9817100" cy="2705100"/>
          </a:xfrm>
          <a:noFill/>
        </p:spPr>
        <p:txBody>
          <a:bodyPr>
            <a:normAutofit/>
          </a:bodyPr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SAMSUNG GLOBAL SALES PERFORMANCE DASHBOARD</a:t>
            </a:r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AB9EE1-1414-3794-DAFA-4BB4314651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9428" y="4605338"/>
            <a:ext cx="6422572" cy="1655762"/>
          </a:xfrm>
        </p:spPr>
        <p:txBody>
          <a:bodyPr>
            <a:normAutofit/>
          </a:bodyPr>
          <a:lstStyle/>
          <a:p>
            <a:r>
              <a:rPr lang="en-IN" sz="28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Submitted By: Farzana PA</a:t>
            </a:r>
          </a:p>
        </p:txBody>
      </p:sp>
    </p:spTree>
    <p:extLst>
      <p:ext uri="{BB962C8B-B14F-4D97-AF65-F5344CB8AC3E}">
        <p14:creationId xmlns:p14="http://schemas.microsoft.com/office/powerpoint/2010/main" val="1727516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8077E-8F2B-DF1B-3DCA-C3E74C506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sz="3000" dirty="0">
                <a:latin typeface="Arial Black" panose="020B0A04020102020204" pitchFamily="34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ED5EA-80DE-E1B8-3F4F-02E3A4AF93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463" y="1778001"/>
            <a:ext cx="10353761" cy="43942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global electronics market is highly competitive, with companies focusing on innovation, pricing strategies, and customer satisfaction.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analyzes the </a:t>
            </a:r>
            <a:r>
              <a:rPr lang="en-US" sz="2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Samsung Global Sales dataset</a:t>
            </a:r>
            <a:r>
              <a:rPr lang="en-US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understand business performance across different regions, products, and customer segments.</a:t>
            </a:r>
          </a:p>
          <a:p>
            <a:pPr marL="0" indent="0">
              <a:buNone/>
            </a:pPr>
            <a:r>
              <a:rPr lang="en-US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provides insights into: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Revenue and profit trends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 performance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Sales channel distribution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 behavior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751262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ED657-DFA9-5457-E61C-C00BFEEE9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sz="3000" dirty="0">
                <a:latin typeface="Arial Black" panose="020B0A04020102020204" pitchFamily="34" charset="0"/>
              </a:rPr>
              <a:t>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13E8D8A-1700-7D31-2A07-908128354C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3795" y="1685975"/>
            <a:ext cx="8331805" cy="2653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b="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Analyze overall </a:t>
            </a:r>
            <a:r>
              <a:rPr kumimoji="0" lang="en-US" altLang="en-US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sales performance and trends</a:t>
            </a:r>
            <a:r>
              <a:rPr kumimoji="0" lang="en-US" altLang="en-US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Identify </a:t>
            </a:r>
            <a:r>
              <a:rPr kumimoji="0" lang="en-US" altLang="en-US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top-performing products and categories</a:t>
            </a:r>
            <a:r>
              <a:rPr kumimoji="0" lang="en-US" altLang="en-US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Evaluate </a:t>
            </a:r>
            <a:r>
              <a:rPr kumimoji="0" lang="en-US" altLang="en-US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profitability and revenue distribution</a:t>
            </a:r>
            <a:r>
              <a:rPr kumimoji="0" lang="en-US" altLang="en-US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Understand </a:t>
            </a:r>
            <a:r>
              <a:rPr kumimoji="0" lang="en-US" altLang="en-US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 segments and sales channels</a:t>
            </a:r>
            <a:r>
              <a:rPr kumimoji="0" lang="en-US" altLang="en-US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 insights for </a:t>
            </a:r>
            <a:r>
              <a:rPr kumimoji="0" lang="en-US" altLang="en-US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business decision-making</a:t>
            </a:r>
            <a:r>
              <a:rPr kumimoji="0" lang="en-US" altLang="en-US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47114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82400-354E-A045-1A3B-E3683A85D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795" y="96350"/>
            <a:ext cx="10353762" cy="970450"/>
          </a:xfrm>
        </p:spPr>
        <p:txBody>
          <a:bodyPr>
            <a:normAutofit/>
          </a:bodyPr>
          <a:lstStyle/>
          <a:p>
            <a:pPr algn="l"/>
            <a:r>
              <a:rPr lang="en-IN" sz="3000" dirty="0">
                <a:latin typeface="Arial Black" panose="020B0A04020102020204" pitchFamily="34" charset="0"/>
              </a:rPr>
              <a:t>DATASET USED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EEF4E1F-66F0-49A7-7642-D52C1EA763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2000"/>
            <a:ext cx="12192000" cy="609599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65960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E62E1-6CBC-A118-562A-FDD27FA7B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96350"/>
            <a:ext cx="10353762" cy="970450"/>
          </a:xfrm>
        </p:spPr>
        <p:txBody>
          <a:bodyPr>
            <a:normAutofit/>
          </a:bodyPr>
          <a:lstStyle/>
          <a:p>
            <a:pPr algn="l"/>
            <a:r>
              <a:rPr lang="en-IN" sz="3000" dirty="0">
                <a:latin typeface="Arial Black" panose="020B0A04020102020204" pitchFamily="34" charset="0"/>
              </a:rPr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7126C-3B2D-F604-A697-7A82E19CB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066800"/>
            <a:ext cx="10353762" cy="5791200"/>
          </a:xfrm>
        </p:spPr>
        <p:txBody>
          <a:bodyPr>
            <a:noAutofit/>
          </a:bodyPr>
          <a:lstStyle/>
          <a:p>
            <a:pPr marL="36900" indent="0"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detailed sales information of Samsung products across multiple countries.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Details:</a:t>
            </a:r>
          </a:p>
          <a:p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Rows:15,500</a:t>
            </a:r>
          </a:p>
          <a:p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Columns: 21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Important Columns:</a:t>
            </a:r>
          </a:p>
          <a:p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Date, Year, Month </a:t>
            </a:r>
          </a:p>
          <a:p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Country, Region </a:t>
            </a:r>
          </a:p>
          <a:p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Product, Category </a:t>
            </a:r>
          </a:p>
          <a:p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Unit Price, Units Sold </a:t>
            </a:r>
          </a:p>
          <a:p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Revenue, Profit </a:t>
            </a:r>
          </a:p>
          <a:p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Sales Channel </a:t>
            </a:r>
          </a:p>
          <a:p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 Segment </a:t>
            </a:r>
          </a:p>
          <a:p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 Rating </a:t>
            </a:r>
          </a:p>
          <a:p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 Status</a:t>
            </a:r>
          </a:p>
          <a:p>
            <a:endParaRPr lang="en-IN" sz="1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9874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FAC9D-AC44-D74F-B503-784C371AD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141903"/>
            <a:ext cx="10353762" cy="749300"/>
          </a:xfrm>
        </p:spPr>
        <p:txBody>
          <a:bodyPr>
            <a:normAutofit/>
          </a:bodyPr>
          <a:lstStyle/>
          <a:p>
            <a:pPr algn="l"/>
            <a:r>
              <a:rPr lang="en-IN" sz="3000" dirty="0">
                <a:latin typeface="Arial Black" panose="020B0A04020102020204" pitchFamily="34" charset="0"/>
              </a:rPr>
              <a:t>PIVOT TABLES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F71D544-16B8-E115-B00A-ADC8342929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7144879"/>
              </p:ext>
            </p:extLst>
          </p:nvPr>
        </p:nvGraphicFramePr>
        <p:xfrm>
          <a:off x="314238" y="1607510"/>
          <a:ext cx="1917700" cy="43942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29438">
                  <a:extLst>
                    <a:ext uri="{9D8B030D-6E8A-4147-A177-3AD203B41FA5}">
                      <a16:colId xmlns:a16="http://schemas.microsoft.com/office/drawing/2014/main" val="156156804"/>
                    </a:ext>
                  </a:extLst>
                </a:gridCol>
                <a:gridCol w="988262">
                  <a:extLst>
                    <a:ext uri="{9D8B030D-6E8A-4147-A177-3AD203B41FA5}">
                      <a16:colId xmlns:a16="http://schemas.microsoft.com/office/drawing/2014/main" val="4192638261"/>
                    </a:ext>
                  </a:extLst>
                </a:gridCol>
              </a:tblGrid>
              <a:tr h="33771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Row Labels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Sum of Revenue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203888076"/>
                  </a:ext>
                </a:extLst>
              </a:tr>
              <a:tr h="33771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January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2044209.91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690677834"/>
                  </a:ext>
                </a:extLst>
              </a:tr>
              <a:tr h="33771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February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1640535.2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519040268"/>
                  </a:ext>
                </a:extLst>
              </a:tr>
              <a:tr h="33771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March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1827762.45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088646997"/>
                  </a:ext>
                </a:extLst>
              </a:tr>
              <a:tr h="33771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April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1850411.77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41688469"/>
                  </a:ext>
                </a:extLst>
              </a:tr>
              <a:tr h="33771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May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1959111.57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220409491"/>
                  </a:ext>
                </a:extLst>
              </a:tr>
              <a:tr h="33771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June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2099161.62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856840738"/>
                  </a:ext>
                </a:extLst>
              </a:tr>
              <a:tr h="33771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July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1841931.21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301344529"/>
                  </a:ext>
                </a:extLst>
              </a:tr>
              <a:tr h="33771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August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1942453.29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75081940"/>
                  </a:ext>
                </a:extLst>
              </a:tr>
              <a:tr h="33771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September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1866744.03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51970273"/>
                  </a:ext>
                </a:extLst>
              </a:tr>
              <a:tr h="33771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October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2096938.93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514802769"/>
                  </a:ext>
                </a:extLst>
              </a:tr>
              <a:tr h="33771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November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1808459.09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744796519"/>
                  </a:ext>
                </a:extLst>
              </a:tr>
              <a:tr h="33771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December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1933539.81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97682608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34F0082-E9E6-D6D8-1592-E315A50378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3359826"/>
              </p:ext>
            </p:extLst>
          </p:nvPr>
        </p:nvGraphicFramePr>
        <p:xfrm>
          <a:off x="2655203" y="1586584"/>
          <a:ext cx="3324137" cy="439033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63185">
                  <a:extLst>
                    <a:ext uri="{9D8B030D-6E8A-4147-A177-3AD203B41FA5}">
                      <a16:colId xmlns:a16="http://schemas.microsoft.com/office/drawing/2014/main" val="3288961294"/>
                    </a:ext>
                  </a:extLst>
                </a:gridCol>
                <a:gridCol w="1130476">
                  <a:extLst>
                    <a:ext uri="{9D8B030D-6E8A-4147-A177-3AD203B41FA5}">
                      <a16:colId xmlns:a16="http://schemas.microsoft.com/office/drawing/2014/main" val="1522660182"/>
                    </a:ext>
                  </a:extLst>
                </a:gridCol>
                <a:gridCol w="1130476">
                  <a:extLst>
                    <a:ext uri="{9D8B030D-6E8A-4147-A177-3AD203B41FA5}">
                      <a16:colId xmlns:a16="http://schemas.microsoft.com/office/drawing/2014/main" val="4157023749"/>
                    </a:ext>
                  </a:extLst>
                </a:gridCol>
              </a:tblGrid>
              <a:tr h="45306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Row Labels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Sum of Profit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Sum of Revenue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453058543"/>
                  </a:ext>
                </a:extLst>
              </a:tr>
              <a:tr h="3281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January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515506.664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2044209.91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47597629"/>
                  </a:ext>
                </a:extLst>
              </a:tr>
              <a:tr h="3281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February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421949.258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1640535.2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228632128"/>
                  </a:ext>
                </a:extLst>
              </a:tr>
              <a:tr h="3281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March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475045.532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1827762.45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368225185"/>
                  </a:ext>
                </a:extLst>
              </a:tr>
              <a:tr h="3281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April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475739.121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1850411.77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13690259"/>
                  </a:ext>
                </a:extLst>
              </a:tr>
              <a:tr h="3281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May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509594.487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1959111.57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41335972"/>
                  </a:ext>
                </a:extLst>
              </a:tr>
              <a:tr h="3281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June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543360.261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2099161.62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87487863"/>
                  </a:ext>
                </a:extLst>
              </a:tr>
              <a:tr h="3281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July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474975.312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1841931.21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83837631"/>
                  </a:ext>
                </a:extLst>
              </a:tr>
              <a:tr h="3281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August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504255.368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1942453.29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40385682"/>
                  </a:ext>
                </a:extLst>
              </a:tr>
              <a:tr h="3281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September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482487.877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1866744.03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21570029"/>
                  </a:ext>
                </a:extLst>
              </a:tr>
              <a:tr h="3281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October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542771.903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2096938.93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117337865"/>
                  </a:ext>
                </a:extLst>
              </a:tr>
              <a:tr h="3281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November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457889.331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1808459.09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935088433"/>
                  </a:ext>
                </a:extLst>
              </a:tr>
              <a:tr h="3281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December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495373.493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1933539.81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48939630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C0E2B58-2E40-899B-C213-DE67C98021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2818321"/>
              </p:ext>
            </p:extLst>
          </p:nvPr>
        </p:nvGraphicFramePr>
        <p:xfrm>
          <a:off x="6212662" y="1598368"/>
          <a:ext cx="3493957" cy="43903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93390">
                  <a:extLst>
                    <a:ext uri="{9D8B030D-6E8A-4147-A177-3AD203B41FA5}">
                      <a16:colId xmlns:a16="http://schemas.microsoft.com/office/drawing/2014/main" val="742653982"/>
                    </a:ext>
                  </a:extLst>
                </a:gridCol>
                <a:gridCol w="1800567">
                  <a:extLst>
                    <a:ext uri="{9D8B030D-6E8A-4147-A177-3AD203B41FA5}">
                      <a16:colId xmlns:a16="http://schemas.microsoft.com/office/drawing/2014/main" val="705738970"/>
                    </a:ext>
                  </a:extLst>
                </a:gridCol>
              </a:tblGrid>
              <a:tr h="2245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Row Labels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Sum of Revenue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130681744"/>
                  </a:ext>
                </a:extLst>
              </a:tr>
              <a:tr h="4165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Samsung Galaxy Tab S9 Ultra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613184.18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034178552"/>
                  </a:ext>
                </a:extLst>
              </a:tr>
              <a:tr h="4165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Samsung The Frame 55-inch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618187.82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868209270"/>
                  </a:ext>
                </a:extLst>
              </a:tr>
              <a:tr h="4165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Samsung Odyssey Neo G9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651827.53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91735969"/>
                  </a:ext>
                </a:extLst>
              </a:tr>
              <a:tr h="4165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Samsung </a:t>
                      </a:r>
                      <a:r>
                        <a:rPr lang="en-IN" sz="1100" u="none" strike="noStrike" dirty="0" err="1">
                          <a:effectLst/>
                        </a:rPr>
                        <a:t>ViewFinity</a:t>
                      </a:r>
                      <a:r>
                        <a:rPr lang="en-IN" sz="1100" u="none" strike="noStrike" dirty="0">
                          <a:effectLst/>
                        </a:rPr>
                        <a:t> S9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746484.03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637030276"/>
                  </a:ext>
                </a:extLst>
              </a:tr>
              <a:tr h="4165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Samsung Galaxy Z Fold 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763137.3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58298458"/>
                  </a:ext>
                </a:extLst>
              </a:tr>
              <a:tr h="4165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Samsung Galaxy Z Fold 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858492.72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442468236"/>
                  </a:ext>
                </a:extLst>
              </a:tr>
              <a:tr h="4165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Samsung Neo QLED 4K QN85C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859697.3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44633836"/>
                  </a:ext>
                </a:extLst>
              </a:tr>
              <a:tr h="4165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Samsung French Door Refrigerator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914370.15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197091232"/>
                  </a:ext>
                </a:extLst>
              </a:tr>
              <a:tr h="4165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Samsung OLED S95C 65-inch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1222086.81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93283882"/>
                  </a:ext>
                </a:extLst>
              </a:tr>
              <a:tr h="4165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Samsung Neo QLED 8K QN900C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2231009.59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91397478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56E85E6-5026-0970-8CBD-3682B47D0B85}"/>
              </a:ext>
            </a:extLst>
          </p:cNvPr>
          <p:cNvSpPr txBox="1"/>
          <p:nvPr/>
        </p:nvSpPr>
        <p:spPr>
          <a:xfrm>
            <a:off x="29669" y="1191047"/>
            <a:ext cx="279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Monthly Revenue Trend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39D08C-2132-2FDD-FEDC-CB216EFA17B8}"/>
              </a:ext>
            </a:extLst>
          </p:cNvPr>
          <p:cNvSpPr txBox="1"/>
          <p:nvPr/>
        </p:nvSpPr>
        <p:spPr>
          <a:xfrm>
            <a:off x="2893240" y="1164842"/>
            <a:ext cx="3086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Revenue vs Profit by Month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EEC990-AFF5-08A3-4C6E-08950728BCA2}"/>
              </a:ext>
            </a:extLst>
          </p:cNvPr>
          <p:cNvSpPr txBox="1"/>
          <p:nvPr/>
        </p:nvSpPr>
        <p:spPr>
          <a:xfrm>
            <a:off x="6212662" y="1164842"/>
            <a:ext cx="3324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Top 10 Products  By Revenue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7D70087-DE03-9C51-41D9-2F4A16963E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9221395"/>
              </p:ext>
            </p:extLst>
          </p:nvPr>
        </p:nvGraphicFramePr>
        <p:xfrm>
          <a:off x="9807662" y="1607511"/>
          <a:ext cx="2282738" cy="22151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06358">
                  <a:extLst>
                    <a:ext uri="{9D8B030D-6E8A-4147-A177-3AD203B41FA5}">
                      <a16:colId xmlns:a16="http://schemas.microsoft.com/office/drawing/2014/main" val="2581502262"/>
                    </a:ext>
                  </a:extLst>
                </a:gridCol>
                <a:gridCol w="1176380">
                  <a:extLst>
                    <a:ext uri="{9D8B030D-6E8A-4147-A177-3AD203B41FA5}">
                      <a16:colId xmlns:a16="http://schemas.microsoft.com/office/drawing/2014/main" val="349058529"/>
                    </a:ext>
                  </a:extLst>
                </a:gridCol>
              </a:tblGrid>
              <a:tr h="3187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Row Labels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Sum of Revenue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96125448"/>
                  </a:ext>
                </a:extLst>
              </a:tr>
              <a:tr h="3187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Business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4545605.07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498210744"/>
                  </a:ext>
                </a:extLst>
              </a:tr>
              <a:tr h="3187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Education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4481623.94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694507364"/>
                  </a:ext>
                </a:extLst>
              </a:tr>
              <a:tr h="3187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Enterprise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4491693.89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748193667"/>
                  </a:ext>
                </a:extLst>
              </a:tr>
              <a:tr h="621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Government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4748703.9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3828674"/>
                  </a:ext>
                </a:extLst>
              </a:tr>
              <a:tr h="3187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Individual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4643632.08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576465093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52A0F5FB-7138-7B91-F728-CDE197F0334D}"/>
              </a:ext>
            </a:extLst>
          </p:cNvPr>
          <p:cNvSpPr txBox="1"/>
          <p:nvPr/>
        </p:nvSpPr>
        <p:spPr>
          <a:xfrm>
            <a:off x="9845762" y="961179"/>
            <a:ext cx="23462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Revenue By Customer Segment</a:t>
            </a:r>
          </a:p>
        </p:txBody>
      </p:sp>
    </p:spTree>
    <p:extLst>
      <p:ext uri="{BB962C8B-B14F-4D97-AF65-F5344CB8AC3E}">
        <p14:creationId xmlns:p14="http://schemas.microsoft.com/office/powerpoint/2010/main" val="3913784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74060F5-F9B9-A3CF-B486-C3B125C31E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7486680"/>
              </p:ext>
            </p:extLst>
          </p:nvPr>
        </p:nvGraphicFramePr>
        <p:xfrm>
          <a:off x="4584700" y="444500"/>
          <a:ext cx="3390900" cy="637542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3442">
                  <a:extLst>
                    <a:ext uri="{9D8B030D-6E8A-4147-A177-3AD203B41FA5}">
                      <a16:colId xmlns:a16="http://schemas.microsoft.com/office/drawing/2014/main" val="1330480268"/>
                    </a:ext>
                  </a:extLst>
                </a:gridCol>
                <a:gridCol w="1747458">
                  <a:extLst>
                    <a:ext uri="{9D8B030D-6E8A-4147-A177-3AD203B41FA5}">
                      <a16:colId xmlns:a16="http://schemas.microsoft.com/office/drawing/2014/main" val="1193594490"/>
                    </a:ext>
                  </a:extLst>
                </a:gridCol>
              </a:tblGrid>
              <a:tr h="1202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Row Labels</a:t>
                      </a:r>
                      <a:endParaRPr lang="en-IN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Sum of Revenue</a:t>
                      </a:r>
                      <a:endParaRPr lang="en-IN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extLst>
                  <a:ext uri="{0D108BD9-81ED-4DB2-BD59-A6C34878D82A}">
                    <a16:rowId xmlns:a16="http://schemas.microsoft.com/office/drawing/2014/main" val="1066734139"/>
                  </a:ext>
                </a:extLst>
              </a:tr>
              <a:tr h="1202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Argentina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455726.16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extLst>
                  <a:ext uri="{0D108BD9-81ED-4DB2-BD59-A6C34878D82A}">
                    <a16:rowId xmlns:a16="http://schemas.microsoft.com/office/drawing/2014/main" val="2469418358"/>
                  </a:ext>
                </a:extLst>
              </a:tr>
              <a:tr h="1202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Australia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437532.39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extLst>
                  <a:ext uri="{0D108BD9-81ED-4DB2-BD59-A6C34878D82A}">
                    <a16:rowId xmlns:a16="http://schemas.microsoft.com/office/drawing/2014/main" val="1532383803"/>
                  </a:ext>
                </a:extLst>
              </a:tr>
              <a:tr h="1202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Austria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529642.09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extLst>
                  <a:ext uri="{0D108BD9-81ED-4DB2-BD59-A6C34878D82A}">
                    <a16:rowId xmlns:a16="http://schemas.microsoft.com/office/drawing/2014/main" val="350226466"/>
                  </a:ext>
                </a:extLst>
              </a:tr>
              <a:tr h="1202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Bangladesh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484306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extLst>
                  <a:ext uri="{0D108BD9-81ED-4DB2-BD59-A6C34878D82A}">
                    <a16:rowId xmlns:a16="http://schemas.microsoft.com/office/drawing/2014/main" val="1518070271"/>
                  </a:ext>
                </a:extLst>
              </a:tr>
              <a:tr h="1202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Belgium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361647.5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extLst>
                  <a:ext uri="{0D108BD9-81ED-4DB2-BD59-A6C34878D82A}">
                    <a16:rowId xmlns:a16="http://schemas.microsoft.com/office/drawing/2014/main" val="3707649168"/>
                  </a:ext>
                </a:extLst>
              </a:tr>
              <a:tr h="1202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Brazil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404509.74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extLst>
                  <a:ext uri="{0D108BD9-81ED-4DB2-BD59-A6C34878D82A}">
                    <a16:rowId xmlns:a16="http://schemas.microsoft.com/office/drawing/2014/main" val="2674960246"/>
                  </a:ext>
                </a:extLst>
              </a:tr>
              <a:tr h="1202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Canada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515495.34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extLst>
                  <a:ext uri="{0D108BD9-81ED-4DB2-BD59-A6C34878D82A}">
                    <a16:rowId xmlns:a16="http://schemas.microsoft.com/office/drawing/2014/main" val="3296470420"/>
                  </a:ext>
                </a:extLst>
              </a:tr>
              <a:tr h="1202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Chile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463495.6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extLst>
                  <a:ext uri="{0D108BD9-81ED-4DB2-BD59-A6C34878D82A}">
                    <a16:rowId xmlns:a16="http://schemas.microsoft.com/office/drawing/2014/main" val="1299269622"/>
                  </a:ext>
                </a:extLst>
              </a:tr>
              <a:tr h="1202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China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380012.21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extLst>
                  <a:ext uri="{0D108BD9-81ED-4DB2-BD59-A6C34878D82A}">
                    <a16:rowId xmlns:a16="http://schemas.microsoft.com/office/drawing/2014/main" val="2691434358"/>
                  </a:ext>
                </a:extLst>
              </a:tr>
              <a:tr h="1202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Colombia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441768.22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extLst>
                  <a:ext uri="{0D108BD9-81ED-4DB2-BD59-A6C34878D82A}">
                    <a16:rowId xmlns:a16="http://schemas.microsoft.com/office/drawing/2014/main" val="3061597836"/>
                  </a:ext>
                </a:extLst>
              </a:tr>
              <a:tr h="1202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Czech Republic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444956.19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extLst>
                  <a:ext uri="{0D108BD9-81ED-4DB2-BD59-A6C34878D82A}">
                    <a16:rowId xmlns:a16="http://schemas.microsoft.com/office/drawing/2014/main" val="1069074346"/>
                  </a:ext>
                </a:extLst>
              </a:tr>
              <a:tr h="1202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Denmark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421990.1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extLst>
                  <a:ext uri="{0D108BD9-81ED-4DB2-BD59-A6C34878D82A}">
                    <a16:rowId xmlns:a16="http://schemas.microsoft.com/office/drawing/2014/main" val="3339082031"/>
                  </a:ext>
                </a:extLst>
              </a:tr>
              <a:tr h="1202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Egypt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439261.56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extLst>
                  <a:ext uri="{0D108BD9-81ED-4DB2-BD59-A6C34878D82A}">
                    <a16:rowId xmlns:a16="http://schemas.microsoft.com/office/drawing/2014/main" val="734727193"/>
                  </a:ext>
                </a:extLst>
              </a:tr>
              <a:tr h="1202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Ethiopia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391058.82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extLst>
                  <a:ext uri="{0D108BD9-81ED-4DB2-BD59-A6C34878D82A}">
                    <a16:rowId xmlns:a16="http://schemas.microsoft.com/office/drawing/2014/main" val="732620804"/>
                  </a:ext>
                </a:extLst>
              </a:tr>
              <a:tr h="1202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France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522563.49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extLst>
                  <a:ext uri="{0D108BD9-81ED-4DB2-BD59-A6C34878D82A}">
                    <a16:rowId xmlns:a16="http://schemas.microsoft.com/office/drawing/2014/main" val="1689363933"/>
                  </a:ext>
                </a:extLst>
              </a:tr>
              <a:tr h="1202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Germany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429448.96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extLst>
                  <a:ext uri="{0D108BD9-81ED-4DB2-BD59-A6C34878D82A}">
                    <a16:rowId xmlns:a16="http://schemas.microsoft.com/office/drawing/2014/main" val="3630894115"/>
                  </a:ext>
                </a:extLst>
              </a:tr>
              <a:tr h="1202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Greece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551966.07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extLst>
                  <a:ext uri="{0D108BD9-81ED-4DB2-BD59-A6C34878D82A}">
                    <a16:rowId xmlns:a16="http://schemas.microsoft.com/office/drawing/2014/main" val="1146560629"/>
                  </a:ext>
                </a:extLst>
              </a:tr>
              <a:tr h="1202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India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468730.51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extLst>
                  <a:ext uri="{0D108BD9-81ED-4DB2-BD59-A6C34878D82A}">
                    <a16:rowId xmlns:a16="http://schemas.microsoft.com/office/drawing/2014/main" val="3556837238"/>
                  </a:ext>
                </a:extLst>
              </a:tr>
              <a:tr h="1202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Indonesia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459696.89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extLst>
                  <a:ext uri="{0D108BD9-81ED-4DB2-BD59-A6C34878D82A}">
                    <a16:rowId xmlns:a16="http://schemas.microsoft.com/office/drawing/2014/main" val="708811024"/>
                  </a:ext>
                </a:extLst>
              </a:tr>
              <a:tr h="1202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Italy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442618.87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extLst>
                  <a:ext uri="{0D108BD9-81ED-4DB2-BD59-A6C34878D82A}">
                    <a16:rowId xmlns:a16="http://schemas.microsoft.com/office/drawing/2014/main" val="1739940732"/>
                  </a:ext>
                </a:extLst>
              </a:tr>
              <a:tr h="1202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Japan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416493.84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extLst>
                  <a:ext uri="{0D108BD9-81ED-4DB2-BD59-A6C34878D82A}">
                    <a16:rowId xmlns:a16="http://schemas.microsoft.com/office/drawing/2014/main" val="493750796"/>
                  </a:ext>
                </a:extLst>
              </a:tr>
              <a:tr h="1202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Kenya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445910.1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extLst>
                  <a:ext uri="{0D108BD9-81ED-4DB2-BD59-A6C34878D82A}">
                    <a16:rowId xmlns:a16="http://schemas.microsoft.com/office/drawing/2014/main" val="121440400"/>
                  </a:ext>
                </a:extLst>
              </a:tr>
              <a:tr h="1202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Malaysia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414316.55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extLst>
                  <a:ext uri="{0D108BD9-81ED-4DB2-BD59-A6C34878D82A}">
                    <a16:rowId xmlns:a16="http://schemas.microsoft.com/office/drawing/2014/main" val="3707565718"/>
                  </a:ext>
                </a:extLst>
              </a:tr>
              <a:tr h="1202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Mexico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401877.13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extLst>
                  <a:ext uri="{0D108BD9-81ED-4DB2-BD59-A6C34878D82A}">
                    <a16:rowId xmlns:a16="http://schemas.microsoft.com/office/drawing/2014/main" val="2429752324"/>
                  </a:ext>
                </a:extLst>
              </a:tr>
              <a:tr h="1202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Myanmar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405469.64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extLst>
                  <a:ext uri="{0D108BD9-81ED-4DB2-BD59-A6C34878D82A}">
                    <a16:rowId xmlns:a16="http://schemas.microsoft.com/office/drawing/2014/main" val="3338737877"/>
                  </a:ext>
                </a:extLst>
              </a:tr>
              <a:tr h="1202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Netherlands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373662.73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extLst>
                  <a:ext uri="{0D108BD9-81ED-4DB2-BD59-A6C34878D82A}">
                    <a16:rowId xmlns:a16="http://schemas.microsoft.com/office/drawing/2014/main" val="92125770"/>
                  </a:ext>
                </a:extLst>
              </a:tr>
              <a:tr h="1202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New Zealand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377018.99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extLst>
                  <a:ext uri="{0D108BD9-81ED-4DB2-BD59-A6C34878D82A}">
                    <a16:rowId xmlns:a16="http://schemas.microsoft.com/office/drawing/2014/main" val="1788192987"/>
                  </a:ext>
                </a:extLst>
              </a:tr>
              <a:tr h="1202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Nigeria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485044.72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extLst>
                  <a:ext uri="{0D108BD9-81ED-4DB2-BD59-A6C34878D82A}">
                    <a16:rowId xmlns:a16="http://schemas.microsoft.com/office/drawing/2014/main" val="1119722341"/>
                  </a:ext>
                </a:extLst>
              </a:tr>
              <a:tr h="1202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Norway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522623.37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extLst>
                  <a:ext uri="{0D108BD9-81ED-4DB2-BD59-A6C34878D82A}">
                    <a16:rowId xmlns:a16="http://schemas.microsoft.com/office/drawing/2014/main" val="3191085965"/>
                  </a:ext>
                </a:extLst>
              </a:tr>
              <a:tr h="1202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Pakistan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480871.03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extLst>
                  <a:ext uri="{0D108BD9-81ED-4DB2-BD59-A6C34878D82A}">
                    <a16:rowId xmlns:a16="http://schemas.microsoft.com/office/drawing/2014/main" val="1867238152"/>
                  </a:ext>
                </a:extLst>
              </a:tr>
              <a:tr h="1202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Peru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354245.98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extLst>
                  <a:ext uri="{0D108BD9-81ED-4DB2-BD59-A6C34878D82A}">
                    <a16:rowId xmlns:a16="http://schemas.microsoft.com/office/drawing/2014/main" val="2791139705"/>
                  </a:ext>
                </a:extLst>
              </a:tr>
              <a:tr h="1202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Philippines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371469.98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extLst>
                  <a:ext uri="{0D108BD9-81ED-4DB2-BD59-A6C34878D82A}">
                    <a16:rowId xmlns:a16="http://schemas.microsoft.com/office/drawing/2014/main" val="1415543977"/>
                  </a:ext>
                </a:extLst>
              </a:tr>
              <a:tr h="1202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Poland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407587.07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extLst>
                  <a:ext uri="{0D108BD9-81ED-4DB2-BD59-A6C34878D82A}">
                    <a16:rowId xmlns:a16="http://schemas.microsoft.com/office/drawing/2014/main" val="944497133"/>
                  </a:ext>
                </a:extLst>
              </a:tr>
              <a:tr h="1202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Portugal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414825.94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extLst>
                  <a:ext uri="{0D108BD9-81ED-4DB2-BD59-A6C34878D82A}">
                    <a16:rowId xmlns:a16="http://schemas.microsoft.com/office/drawing/2014/main" val="63354214"/>
                  </a:ext>
                </a:extLst>
              </a:tr>
              <a:tr h="1202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Romania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406326.65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extLst>
                  <a:ext uri="{0D108BD9-81ED-4DB2-BD59-A6C34878D82A}">
                    <a16:rowId xmlns:a16="http://schemas.microsoft.com/office/drawing/2014/main" val="309105029"/>
                  </a:ext>
                </a:extLst>
              </a:tr>
              <a:tr h="1202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Russia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386479.27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extLst>
                  <a:ext uri="{0D108BD9-81ED-4DB2-BD59-A6C34878D82A}">
                    <a16:rowId xmlns:a16="http://schemas.microsoft.com/office/drawing/2014/main" val="3480730955"/>
                  </a:ext>
                </a:extLst>
              </a:tr>
              <a:tr h="1202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Saudi Arabia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353226.52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extLst>
                  <a:ext uri="{0D108BD9-81ED-4DB2-BD59-A6C34878D82A}">
                    <a16:rowId xmlns:a16="http://schemas.microsoft.com/office/drawing/2014/main" val="1664147385"/>
                  </a:ext>
                </a:extLst>
              </a:tr>
              <a:tr h="1202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Singapore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387462.27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extLst>
                  <a:ext uri="{0D108BD9-81ED-4DB2-BD59-A6C34878D82A}">
                    <a16:rowId xmlns:a16="http://schemas.microsoft.com/office/drawing/2014/main" val="3190375733"/>
                  </a:ext>
                </a:extLst>
              </a:tr>
              <a:tr h="1202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South Africa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462616.55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extLst>
                  <a:ext uri="{0D108BD9-81ED-4DB2-BD59-A6C34878D82A}">
                    <a16:rowId xmlns:a16="http://schemas.microsoft.com/office/drawing/2014/main" val="4019979311"/>
                  </a:ext>
                </a:extLst>
              </a:tr>
              <a:tr h="1202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South Korea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509915.68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extLst>
                  <a:ext uri="{0D108BD9-81ED-4DB2-BD59-A6C34878D82A}">
                    <a16:rowId xmlns:a16="http://schemas.microsoft.com/office/drawing/2014/main" val="2023039819"/>
                  </a:ext>
                </a:extLst>
              </a:tr>
              <a:tr h="1202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Spain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442939.82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extLst>
                  <a:ext uri="{0D108BD9-81ED-4DB2-BD59-A6C34878D82A}">
                    <a16:rowId xmlns:a16="http://schemas.microsoft.com/office/drawing/2014/main" val="1319717693"/>
                  </a:ext>
                </a:extLst>
              </a:tr>
              <a:tr h="1202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Sri Lanka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492857.08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extLst>
                  <a:ext uri="{0D108BD9-81ED-4DB2-BD59-A6C34878D82A}">
                    <a16:rowId xmlns:a16="http://schemas.microsoft.com/office/drawing/2014/main" val="2919333653"/>
                  </a:ext>
                </a:extLst>
              </a:tr>
              <a:tr h="1202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Sweden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406149.44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extLst>
                  <a:ext uri="{0D108BD9-81ED-4DB2-BD59-A6C34878D82A}">
                    <a16:rowId xmlns:a16="http://schemas.microsoft.com/office/drawing/2014/main" val="1856985998"/>
                  </a:ext>
                </a:extLst>
              </a:tr>
              <a:tr h="1202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Switzerland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378224.96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extLst>
                  <a:ext uri="{0D108BD9-81ED-4DB2-BD59-A6C34878D82A}">
                    <a16:rowId xmlns:a16="http://schemas.microsoft.com/office/drawing/2014/main" val="1312871959"/>
                  </a:ext>
                </a:extLst>
              </a:tr>
              <a:tr h="1202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Taiwan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500483.33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extLst>
                  <a:ext uri="{0D108BD9-81ED-4DB2-BD59-A6C34878D82A}">
                    <a16:rowId xmlns:a16="http://schemas.microsoft.com/office/drawing/2014/main" val="2033611859"/>
                  </a:ext>
                </a:extLst>
              </a:tr>
              <a:tr h="1202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Thailand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474783.27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extLst>
                  <a:ext uri="{0D108BD9-81ED-4DB2-BD59-A6C34878D82A}">
                    <a16:rowId xmlns:a16="http://schemas.microsoft.com/office/drawing/2014/main" val="957468365"/>
                  </a:ext>
                </a:extLst>
              </a:tr>
              <a:tr h="1202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Turkey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479950.45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extLst>
                  <a:ext uri="{0D108BD9-81ED-4DB2-BD59-A6C34878D82A}">
                    <a16:rowId xmlns:a16="http://schemas.microsoft.com/office/drawing/2014/main" val="4014676522"/>
                  </a:ext>
                </a:extLst>
              </a:tr>
              <a:tr h="1202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UAE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533780.97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extLst>
                  <a:ext uri="{0D108BD9-81ED-4DB2-BD59-A6C34878D82A}">
                    <a16:rowId xmlns:a16="http://schemas.microsoft.com/office/drawing/2014/main" val="3530379991"/>
                  </a:ext>
                </a:extLst>
              </a:tr>
              <a:tr h="1202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Ukraine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436132.92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extLst>
                  <a:ext uri="{0D108BD9-81ED-4DB2-BD59-A6C34878D82A}">
                    <a16:rowId xmlns:a16="http://schemas.microsoft.com/office/drawing/2014/main" val="1847182275"/>
                  </a:ext>
                </a:extLst>
              </a:tr>
              <a:tr h="1202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United Kingdom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409797.85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extLst>
                  <a:ext uri="{0D108BD9-81ED-4DB2-BD59-A6C34878D82A}">
                    <a16:rowId xmlns:a16="http://schemas.microsoft.com/office/drawing/2014/main" val="1242110395"/>
                  </a:ext>
                </a:extLst>
              </a:tr>
              <a:tr h="1202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United States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446275.97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extLst>
                  <a:ext uri="{0D108BD9-81ED-4DB2-BD59-A6C34878D82A}">
                    <a16:rowId xmlns:a16="http://schemas.microsoft.com/office/drawing/2014/main" val="1773021831"/>
                  </a:ext>
                </a:extLst>
              </a:tr>
              <a:tr h="1202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Vietnam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 dirty="0">
                          <a:effectLst/>
                        </a:rPr>
                        <a:t>486012.1</a:t>
                      </a:r>
                      <a:endParaRPr lang="en-IN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41" marR="2641" marT="2641" marB="0" anchor="b"/>
                </a:tc>
                <a:extLst>
                  <a:ext uri="{0D108BD9-81ED-4DB2-BD59-A6C34878D82A}">
                    <a16:rowId xmlns:a16="http://schemas.microsoft.com/office/drawing/2014/main" val="238680925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2CAE2AC-E83C-6E3A-7FAA-E5D99D94EA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6712963"/>
              </p:ext>
            </p:extLst>
          </p:nvPr>
        </p:nvGraphicFramePr>
        <p:xfrm>
          <a:off x="1333500" y="952500"/>
          <a:ext cx="2133600" cy="2209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3864332618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1270787147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Row Labels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Sum of Revenue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92303597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Accessories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234760.98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05225027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Appliances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2253734.4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29821651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Galaxy A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1154772.22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9027920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Galaxy Buds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298759.24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46185216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Galaxy M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425853.53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43333305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Galaxy 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4728112.37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60780422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Galaxy Tab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2451712.69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9773826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Galaxy Watch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913148.29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61054065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Galaxy Z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2765867.41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14753555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Monitor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2125195.2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1496523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Smart TV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5559342.55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92150988"/>
                  </a:ext>
                </a:extLst>
              </a:tr>
            </a:tbl>
          </a:graphicData>
        </a:graphic>
      </p:graphicFrame>
      <p:graphicFrame>
        <p:nvGraphicFramePr>
          <p:cNvPr id="14" name="Content Placeholder 3">
            <a:extLst>
              <a:ext uri="{FF2B5EF4-FFF2-40B4-BE49-F238E27FC236}">
                <a16:creationId xmlns:a16="http://schemas.microsoft.com/office/drawing/2014/main" id="{E986855D-EAE8-A464-4409-F7AF509244D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54183500"/>
              </p:ext>
            </p:extLst>
          </p:nvPr>
        </p:nvGraphicFramePr>
        <p:xfrm>
          <a:off x="1333500" y="3886200"/>
          <a:ext cx="2133600" cy="2092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34076">
                  <a:extLst>
                    <a:ext uri="{9D8B030D-6E8A-4147-A177-3AD203B41FA5}">
                      <a16:colId xmlns:a16="http://schemas.microsoft.com/office/drawing/2014/main" val="157000190"/>
                    </a:ext>
                  </a:extLst>
                </a:gridCol>
                <a:gridCol w="1099524">
                  <a:extLst>
                    <a:ext uri="{9D8B030D-6E8A-4147-A177-3AD203B41FA5}">
                      <a16:colId xmlns:a16="http://schemas.microsoft.com/office/drawing/2014/main" val="16061291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Row Labels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Sum of Revenue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5739148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Authorized Reseller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3109133.95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48865705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Carrier Store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3212142.04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02794178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Corporate / B2B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3346952.28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4452488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E-commerce Platform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3369992.99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10899017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Online (Samsung.com)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3155638.03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75536848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Samsung Store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3432361.37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88808562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Third-Party Retailer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3285038.22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16993914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051B9901-4ED3-C9BB-0473-95018273834B}"/>
              </a:ext>
            </a:extLst>
          </p:cNvPr>
          <p:cNvSpPr txBox="1"/>
          <p:nvPr/>
        </p:nvSpPr>
        <p:spPr>
          <a:xfrm>
            <a:off x="1333500" y="583168"/>
            <a:ext cx="246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Revenue By Category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40A01B-BFC5-D807-6229-7EF8AEC2E71D}"/>
              </a:ext>
            </a:extLst>
          </p:cNvPr>
          <p:cNvSpPr txBox="1"/>
          <p:nvPr/>
        </p:nvSpPr>
        <p:spPr>
          <a:xfrm>
            <a:off x="1117600" y="3467100"/>
            <a:ext cx="2882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Sales Channel Distribution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5CFBC6-F584-7D8F-7527-09669FC3AC2C}"/>
              </a:ext>
            </a:extLst>
          </p:cNvPr>
          <p:cNvSpPr txBox="1"/>
          <p:nvPr/>
        </p:nvSpPr>
        <p:spPr>
          <a:xfrm>
            <a:off x="4584700" y="0"/>
            <a:ext cx="3568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Revenue Distribution By Country</a:t>
            </a:r>
          </a:p>
        </p:txBody>
      </p:sp>
    </p:spTree>
    <p:extLst>
      <p:ext uri="{BB962C8B-B14F-4D97-AF65-F5344CB8AC3E}">
        <p14:creationId xmlns:p14="http://schemas.microsoft.com/office/powerpoint/2010/main" val="2209128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54D8F-00C3-43DD-C45F-DF4FE47FBA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119" y="774700"/>
            <a:ext cx="10353762" cy="5842000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en-US" dirty="0"/>
              <a:t>Pivot tables were created to summarize and analyze data: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Monthly Revenue Trend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Revenue vs Profit by Month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Top 10 Products by Revenue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Sales Channel Distribution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Category-wise Revenue </a:t>
            </a:r>
          </a:p>
          <a:p>
            <a:pPr marL="36900" indent="0">
              <a:buNone/>
            </a:pPr>
            <a:r>
              <a:rPr lang="en-US" dirty="0"/>
              <a:t>Pivot tables helped in:</a:t>
            </a:r>
          </a:p>
          <a:p>
            <a:r>
              <a:rPr lang="en-US" dirty="0"/>
              <a:t>Easy filtering </a:t>
            </a:r>
          </a:p>
          <a:p>
            <a:r>
              <a:rPr lang="en-US" dirty="0"/>
              <a:t>Data grouping </a:t>
            </a:r>
          </a:p>
          <a:p>
            <a:r>
              <a:rPr lang="en-US" dirty="0"/>
              <a:t>Dashboard visualization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3980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F8F18-D02F-20D7-B790-B5EAB8204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795" y="0"/>
            <a:ext cx="10353762" cy="584200"/>
          </a:xfrm>
        </p:spPr>
        <p:txBody>
          <a:bodyPr>
            <a:normAutofit/>
          </a:bodyPr>
          <a:lstStyle/>
          <a:p>
            <a:pPr algn="l"/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62D3DB-94B2-2C66-B298-7462C62CF7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4200"/>
            <a:ext cx="12192000" cy="627379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238592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AEB82-9E9B-9734-63F5-9C357215A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000" dirty="0">
                <a:latin typeface="Arial Black" panose="020B0A04020102020204" pitchFamily="34" charset="0"/>
              </a:rPr>
              <a:t>CRITERIA USED IN THIS PROJECT</a:t>
            </a:r>
            <a:endParaRPr lang="en-IN" sz="3000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D61CD-AB24-BE73-3FF5-AA2E3BB0F9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10353762" cy="4655651"/>
          </a:xfrm>
        </p:spPr>
        <p:txBody>
          <a:bodyPr>
            <a:noAutofit/>
          </a:bodyPr>
          <a:lstStyle/>
          <a:p>
            <a:pPr marL="3690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Overview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 for sales analysis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pivot tables and slicers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overall business insights </a:t>
            </a:r>
          </a:p>
          <a:p>
            <a:pPr marL="3690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90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Filters (Slicers)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dynamic data filtering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Year, Country, Category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interactivity and user control </a:t>
            </a:r>
          </a:p>
          <a:p>
            <a:pPr marL="3690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7747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0A06A-D145-2FF1-9705-A89E9508B0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368300"/>
            <a:ext cx="10353762" cy="6489699"/>
          </a:xfrm>
        </p:spPr>
        <p:txBody>
          <a:bodyPr>
            <a:noAutofit/>
          </a:bodyPr>
          <a:lstStyle/>
          <a:p>
            <a:pPr marL="3690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Metrics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Revenue → overall sales performance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Profit → profitability measure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Units Sold → sales volume 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 Rating → customer satisfaction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90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Charts Used</a:t>
            </a:r>
          </a:p>
          <a:p>
            <a:r>
              <a:rPr lang="en-IN" dirty="0"/>
              <a:t>Line </a:t>
            </a:r>
            <a:r>
              <a:rPr lang="en-IN" dirty="0" err="1"/>
              <a:t>Chart: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Monthly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Revenue Trend → shows sales trend over time </a:t>
            </a:r>
          </a:p>
          <a:p>
            <a:r>
              <a:rPr lang="en-IN" dirty="0"/>
              <a:t>Column </a:t>
            </a:r>
            <a:r>
              <a:rPr lang="en-IN" dirty="0" err="1"/>
              <a:t>Chart: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Revenue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vs Profit → compares revenue and profitability </a:t>
            </a:r>
          </a:p>
          <a:p>
            <a:r>
              <a:rPr lang="en-IN" dirty="0"/>
              <a:t>Bar </a:t>
            </a:r>
            <a:r>
              <a:rPr lang="en-IN" dirty="0" err="1"/>
              <a:t>Chart: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Top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 Products → identifies best-performing products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Doughnut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Chart:Sales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Channel Distribution → shows contribution of channels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Chart:Customer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Segment Analysis → shows customer type distribution </a:t>
            </a:r>
          </a:p>
          <a:p>
            <a:r>
              <a:rPr lang="en-IN" dirty="0" err="1"/>
              <a:t>Treemap: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Revenue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Category → shows category-wise performance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Chart:Country-wise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Sales → shows regional performance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30593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DDD13-571C-285C-0589-9049E4676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sz="3000" dirty="0">
                <a:latin typeface="Arial Black" panose="020B0A04020102020204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DA273-223F-9D3E-B8D1-2EAC493F6B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dashboard provides insights into Samsung’s global sales performance.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Certain products contribute significantly to revenue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regions generate high sales but moderate profit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channels impact overall performance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segments show different purchasing patterns</a:t>
            </a:r>
          </a:p>
          <a:p>
            <a:pPr marL="369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27825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C4F48-7637-1705-6635-5AFD0D3B9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sz="3000" dirty="0">
                <a:latin typeface="Arial Black" panose="020B0A04020102020204" pitchFamily="34" charset="0"/>
              </a:rPr>
              <a:t>SUGGESTIONS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B7E634E-46DB-7EF3-84AA-8D92B4CDBC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16000" y="1094825"/>
            <a:ext cx="8902700" cy="405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Focus on high-profit products </a:t>
            </a:r>
          </a:p>
          <a:p>
            <a:pPr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Optimize low-performing regions </a:t>
            </a:r>
          </a:p>
          <a:p>
            <a:pPr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pricing strategy </a:t>
            </a:r>
          </a:p>
          <a:p>
            <a:pPr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Strengthen online sales channels </a:t>
            </a:r>
          </a:p>
          <a:p>
            <a:pPr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 customer satisfaction </a:t>
            </a:r>
          </a:p>
        </p:txBody>
      </p:sp>
    </p:spTree>
    <p:extLst>
      <p:ext uri="{BB962C8B-B14F-4D97-AF65-F5344CB8AC3E}">
        <p14:creationId xmlns:p14="http://schemas.microsoft.com/office/powerpoint/2010/main" val="32336537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5644D-9F5C-0D85-365C-0861886C0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4995" y="2612474"/>
            <a:ext cx="6045805" cy="1379051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en-IN" sz="5400" dirty="0">
                <a:latin typeface="Arial Black" panose="020B0A040201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001719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90</TotalTime>
  <Words>757</Words>
  <Application>Microsoft Office PowerPoint</Application>
  <PresentationFormat>Widescreen</PresentationFormat>
  <Paragraphs>337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Arial Black</vt:lpstr>
      <vt:lpstr>Calibri</vt:lpstr>
      <vt:lpstr>Calisto MT</vt:lpstr>
      <vt:lpstr>Times New Roman</vt:lpstr>
      <vt:lpstr>Wingdings</vt:lpstr>
      <vt:lpstr>Wingdings 2</vt:lpstr>
      <vt:lpstr>Slate</vt:lpstr>
      <vt:lpstr>SAMSUNG GLOBAL SALES PERFORMANCE DASHBOARD</vt:lpstr>
      <vt:lpstr>INTRODUCTION</vt:lpstr>
      <vt:lpstr>OBJECTIVES</vt:lpstr>
      <vt:lpstr>DATASET USED</vt:lpstr>
      <vt:lpstr>DATASET</vt:lpstr>
      <vt:lpstr>PIVOT TABLES</vt:lpstr>
      <vt:lpstr>PowerPoint Presentation</vt:lpstr>
      <vt:lpstr>PowerPoint Presentation</vt:lpstr>
      <vt:lpstr>DASHBOARD</vt:lpstr>
      <vt:lpstr>CRITERIA USED IN THIS PROJECT</vt:lpstr>
      <vt:lpstr>PowerPoint Presentation</vt:lpstr>
      <vt:lpstr>CONCLUSION</vt:lpstr>
      <vt:lpstr>SUGGESTIONS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Farzana PA</dc:creator>
  <cp:lastModifiedBy>Farzana PA</cp:lastModifiedBy>
  <cp:revision>1</cp:revision>
  <dcterms:created xsi:type="dcterms:W3CDTF">2026-04-12T05:07:13Z</dcterms:created>
  <dcterms:modified xsi:type="dcterms:W3CDTF">2026-04-12T06:37:50Z</dcterms:modified>
</cp:coreProperties>
</file>